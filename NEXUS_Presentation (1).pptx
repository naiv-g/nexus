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A855F7"/>
            </a:solidFill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F1 Macro</c:v>
                </c:pt>
                <c:pt idx="2">
                  <c:v>ROC-AUC</c:v>
                </c:pt>
                <c:pt idx="3">
                  <c:v>F1 Weighted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0.956</c:v>
                </c:pt>
                <c:pt idx="1">
                  <c:v>0.955</c:v>
                </c:pt>
                <c:pt idx="2">
                  <c:v>0.952</c:v>
                </c:pt>
                <c:pt idx="3">
                  <c:v>0.956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Signals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Bullish (UP) - 185 Calls</c:v>
                </c:pt>
                <c:pt idx="1">
                  <c:v>Bearish (DOWN) - 134 Puts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185</c:v>
                </c:pt>
                <c:pt idx="1">
                  <c:v>134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 Delta</c:v>
                </c:pt>
              </c:strCache>
            </c:strRef>
          </c:tx>
          <c:spPr>
            <a:ln w="38100">
              <a:solidFill>
                <a:srgbClr val="0EA5E9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</c:v>
                </c:pt>
                <c:pt idx="1">
                  <c:v>0.8</c:v>
                </c:pt>
                <c:pt idx="2">
                  <c:v>-0.2</c:v>
                </c:pt>
                <c:pt idx="3">
                  <c:v>-1.2</c:v>
                </c:pt>
                <c:pt idx="4">
                  <c:v>-0.6</c:v>
                </c:pt>
                <c:pt idx="5">
                  <c:v>0.3</c:v>
                </c:pt>
                <c:pt idx="6">
                  <c:v>1.5</c:v>
                </c:pt>
                <c:pt idx="7">
                  <c:v>0.9</c:v>
                </c:pt>
                <c:pt idx="8">
                  <c:v>-0.2</c:v>
                </c:pt>
                <c:pt idx="9">
                  <c:v>-1.1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P/L Projection</c:v>
                </c:pt>
              </c:strCache>
            </c:strRef>
          </c:tx>
          <c:spPr>
            <a:solidFill>
              <a:srgbClr val="34D399"/>
            </a:solidFill>
          </c:spPr>
          <c:cat>
            <c:strRef>
              <c:f>Sheet1!$A$2:$A$5</c:f>
              <c:strCache>
                <c:ptCount val="4"/>
                <c:pt idx="0">
                  <c:v>Worst Case</c:v>
                </c:pt>
                <c:pt idx="1">
                  <c:v>Expected</c:v>
                </c:pt>
                <c:pt idx="2">
                  <c:v>Best Case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-50000</c:v>
                </c:pt>
                <c:pt idx="1">
                  <c:v>125000</c:v>
                </c:pt>
                <c:pt idx="2">
                  <c:v>185000</c:v>
                </c:pt>
                <c:pt idx="3">
                  <c:v>150000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A855F7"/>
                </a:solidFill>
              </a:defRPr>
            </a:pPr>
            <a:r>
              <a:t>NEXUS</a:t>
            </a:r>
          </a:p>
          <a:p>
            <a:pPr algn="ctr">
              <a:defRPr sz="2800">
                <a:solidFill>
                  <a:srgbClr val="0EA5E9"/>
                </a:solidFill>
              </a:defRPr>
            </a:pPr>
            <a:r>
              <a:t>Next-Generation Options Intelligence &amp; AI Advisory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The Market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Traditional options trading relies on slow, manual analysis of complex volatility and Open Interest (OI) metrics. </a:t>
            </a:r>
            <a:br/>
            <a:br/>
            <a:r>
              <a:t>Traders face:</a:t>
            </a:r>
            <a:br/>
            <a:r>
              <a:t>• Information Overload from PCR, straddle prices, and moving averages</a:t>
            </a:r>
            <a:br/>
            <a:r>
              <a:t>• Lack of actionable, real-time directional forecasting</a:t>
            </a:r>
            <a:br/>
            <a:r>
              <a:t>• Inability to dynamically adjust portfolio sizes based on quantified risk</a:t>
            </a:r>
            <a:br/>
            <a:br/>
            <a:r>
              <a:t>Solution: A machine learning pipeline augmented by an LLM-driven advisory.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NEXUS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1. Data Ingestion: Processes raw NSE CSVs extracting 46 engineered features.</a:t>
            </a:r>
            <a:br/>
            <a:br/>
            <a:r>
              <a:t>2. ML Forecasting: HistGradientBoosting maps non-linear relationships to classify UP/DOWN direction with volatility deltas.</a:t>
            </a:r>
            <a:br/>
            <a:br/>
            <a:r>
              <a:t>3. Intent Configuration: Users input capital, risk tolerance, and time horizon.</a:t>
            </a:r>
            <a:br/>
            <a:br/>
            <a:r>
              <a:t>4. AI Generator: Gemini 2.0 / GPT-4o-mini synthesizes data streams into actionable trading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Predictive Accuracy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Our HistGradientBoosting classifier achieves a state-of-the-art 95.6% accuracy on withheld NSE test data, dramatically outperforming basic technical analysis.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01168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Live Market 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The system classifies massive block trades into coherent sentiment. Currently projecting a 58% Bullish bias across analyzed datasets.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28600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0" y="2286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D399"/>
                </a:solidFill>
              </a:defRPr>
            </a:pPr>
            <a:r>
              <a:t>Dominant Signal: UP</a:t>
            </a:r>
            <a:br/>
            <a:r>
              <a:t>Avg Confidence: 73.4%</a:t>
            </a:r>
            <a:br/>
            <a:r>
              <a:t>Volatility Shift: Stable</a:t>
            </a:r>
            <a:br/>
            <a:br/>
            <a:r>
              <a:t>Action: Favorable conditions for directional Option Buying.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Systemic Volatility Exposure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22860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Risk Heatmap Integration:</a:t>
            </a:r>
            <a:br/>
            <a:r>
              <a:t>Vol spikes detected on Day 7.</a:t>
            </a:r>
            <a:br/>
            <a:br/>
            <a:r>
              <a:t>Risk per trade should be minimized during these periods. Standard position size is reduced from 10 lots to 4 lots autonomously by the Portfolio Simulator.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Dynamic Portfolio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Instead of static lot sizes, NEXUS calculates risk exposures based on:</a:t>
            </a:r>
            <a:br/>
            <a:br/>
            <a:r>
              <a:t>• Available User Capital</a:t>
            </a:r>
            <a:br/>
            <a:r>
              <a:t>• User-Defined Risk Tolerance (%)</a:t>
            </a:r>
            <a:br/>
            <a:r>
              <a:t>• Model Prediction Confidence Probability</a:t>
            </a:r>
            <a:br/>
            <a:br/>
            <a:r>
              <a:t>By mapping the expected value of trades (Win Rate * Avg Premium), we dynamically bound maximum position sizes safely.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36576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Conclusion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NEXUS represents a paradigm shift in retail options trading by moving from descriptive analytics to actionable AI advisory.</a:t>
            </a:r>
            <a:br/>
            <a:br/>
            <a:r>
              <a:t>Deployment Status:</a:t>
            </a:r>
            <a:br/>
            <a:r>
              <a:t>• Client-side LLM Integration securely operating</a:t>
            </a:r>
            <a:br/>
            <a:r>
              <a:t>• HistGradientBoosting Models trained and serving</a:t>
            </a:r>
            <a:br/>
            <a:r>
              <a:t>• UI/UX completely modernized</a:t>
            </a:r>
            <a:br/>
            <a:br/>
            <a:r>
              <a:t>Next Steps: Expand real-time WebSocket integrations and deploy multi-model sentiment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